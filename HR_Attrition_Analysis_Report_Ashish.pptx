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805B97-C221-48B8-96FB-3B98910412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718DBC-B036-404E-A3E3-9D86873BE6DE}">
      <dgm:prSet/>
      <dgm:spPr/>
      <dgm:t>
        <a:bodyPr/>
        <a:lstStyle/>
        <a:p>
          <a:r>
            <a:rPr lang="en-US"/>
            <a:t>• Total Employees: 1473</a:t>
          </a:r>
        </a:p>
      </dgm:t>
    </dgm:pt>
    <dgm:pt modelId="{1A92DEB4-97C9-4D1D-B8B3-04BD28E87925}" type="parTrans" cxnId="{47913AC2-7E1B-49C9-9CE2-C20A0909E464}">
      <dgm:prSet/>
      <dgm:spPr/>
      <dgm:t>
        <a:bodyPr/>
        <a:lstStyle/>
        <a:p>
          <a:endParaRPr lang="en-US"/>
        </a:p>
      </dgm:t>
    </dgm:pt>
    <dgm:pt modelId="{C7CE3D46-2C38-4079-ACC9-1C405F69EF23}" type="sibTrans" cxnId="{47913AC2-7E1B-49C9-9CE2-C20A0909E464}">
      <dgm:prSet/>
      <dgm:spPr/>
      <dgm:t>
        <a:bodyPr/>
        <a:lstStyle/>
        <a:p>
          <a:endParaRPr lang="en-US"/>
        </a:p>
      </dgm:t>
    </dgm:pt>
    <dgm:pt modelId="{C8EC744B-DA01-4C86-9AD1-A3817B165CF1}">
      <dgm:prSet/>
      <dgm:spPr/>
      <dgm:t>
        <a:bodyPr/>
        <a:lstStyle/>
        <a:p>
          <a:r>
            <a:rPr lang="en-US"/>
            <a:t>• Total Attrition: 237</a:t>
          </a:r>
        </a:p>
      </dgm:t>
    </dgm:pt>
    <dgm:pt modelId="{21D9A507-20BF-4598-A8B6-C20E2CC6949C}" type="parTrans" cxnId="{3CE9324C-18F9-4837-B294-7EF7C6A8D14F}">
      <dgm:prSet/>
      <dgm:spPr/>
      <dgm:t>
        <a:bodyPr/>
        <a:lstStyle/>
        <a:p>
          <a:endParaRPr lang="en-US"/>
        </a:p>
      </dgm:t>
    </dgm:pt>
    <dgm:pt modelId="{0B0251BC-C65B-4116-9AA3-4BD0FD3DF31B}" type="sibTrans" cxnId="{3CE9324C-18F9-4837-B294-7EF7C6A8D14F}">
      <dgm:prSet/>
      <dgm:spPr/>
      <dgm:t>
        <a:bodyPr/>
        <a:lstStyle/>
        <a:p>
          <a:endParaRPr lang="en-US"/>
        </a:p>
      </dgm:t>
    </dgm:pt>
    <dgm:pt modelId="{4A74C878-A3A4-4980-A9D7-7CCF8DDEAEDB}">
      <dgm:prSet/>
      <dgm:spPr/>
      <dgm:t>
        <a:bodyPr/>
        <a:lstStyle/>
        <a:p>
          <a:r>
            <a:rPr lang="en-US"/>
            <a:t>• Attrition Rate: 16.1%</a:t>
          </a:r>
        </a:p>
      </dgm:t>
    </dgm:pt>
    <dgm:pt modelId="{B189C2A2-C3FC-40A6-A7D4-E41BEB7CACEE}" type="parTrans" cxnId="{5827982B-B56D-442F-8FA3-35460EAA62D8}">
      <dgm:prSet/>
      <dgm:spPr/>
      <dgm:t>
        <a:bodyPr/>
        <a:lstStyle/>
        <a:p>
          <a:endParaRPr lang="en-US"/>
        </a:p>
      </dgm:t>
    </dgm:pt>
    <dgm:pt modelId="{7CECD6F5-D8D7-4245-9779-9B0F8A120FA2}" type="sibTrans" cxnId="{5827982B-B56D-442F-8FA3-35460EAA62D8}">
      <dgm:prSet/>
      <dgm:spPr/>
      <dgm:t>
        <a:bodyPr/>
        <a:lstStyle/>
        <a:p>
          <a:endParaRPr lang="en-US"/>
        </a:p>
      </dgm:t>
    </dgm:pt>
    <dgm:pt modelId="{98C318B1-B481-47C0-8143-57145991ACE4}">
      <dgm:prSet/>
      <dgm:spPr/>
      <dgm:t>
        <a:bodyPr/>
        <a:lstStyle/>
        <a:p>
          <a:r>
            <a:rPr lang="en-US"/>
            <a:t>• Average Age: 37 years</a:t>
          </a:r>
        </a:p>
      </dgm:t>
    </dgm:pt>
    <dgm:pt modelId="{8631AF21-CE0B-4068-BC1C-149DC8E24CCD}" type="parTrans" cxnId="{13471B37-A439-4C0E-ACB0-3788BF98B97C}">
      <dgm:prSet/>
      <dgm:spPr/>
      <dgm:t>
        <a:bodyPr/>
        <a:lstStyle/>
        <a:p>
          <a:endParaRPr lang="en-US"/>
        </a:p>
      </dgm:t>
    </dgm:pt>
    <dgm:pt modelId="{2D1320B7-3876-4770-AD83-2402AA67BAB7}" type="sibTrans" cxnId="{13471B37-A439-4C0E-ACB0-3788BF98B97C}">
      <dgm:prSet/>
      <dgm:spPr/>
      <dgm:t>
        <a:bodyPr/>
        <a:lstStyle/>
        <a:p>
          <a:endParaRPr lang="en-US"/>
        </a:p>
      </dgm:t>
    </dgm:pt>
    <dgm:pt modelId="{0F736EA0-4BF9-48DA-A795-F122AA3555FE}">
      <dgm:prSet/>
      <dgm:spPr/>
      <dgm:t>
        <a:bodyPr/>
        <a:lstStyle/>
        <a:p>
          <a:r>
            <a:rPr lang="en-US"/>
            <a:t>• Average Salary: $6.5K</a:t>
          </a:r>
        </a:p>
      </dgm:t>
    </dgm:pt>
    <dgm:pt modelId="{129C2EDD-CA9F-4850-8410-75DC8616467F}" type="parTrans" cxnId="{92DC3A73-E1EC-49DD-A1FD-9740B840A937}">
      <dgm:prSet/>
      <dgm:spPr/>
      <dgm:t>
        <a:bodyPr/>
        <a:lstStyle/>
        <a:p>
          <a:endParaRPr lang="en-US"/>
        </a:p>
      </dgm:t>
    </dgm:pt>
    <dgm:pt modelId="{AEA7CEC9-1014-4449-88ED-15B012F78FC4}" type="sibTrans" cxnId="{92DC3A73-E1EC-49DD-A1FD-9740B840A937}">
      <dgm:prSet/>
      <dgm:spPr/>
      <dgm:t>
        <a:bodyPr/>
        <a:lstStyle/>
        <a:p>
          <a:endParaRPr lang="en-US"/>
        </a:p>
      </dgm:t>
    </dgm:pt>
    <dgm:pt modelId="{78E060D5-FB3C-4839-8D91-776068AADEEF}">
      <dgm:prSet/>
      <dgm:spPr/>
      <dgm:t>
        <a:bodyPr/>
        <a:lstStyle/>
        <a:p>
          <a:r>
            <a:rPr lang="en-US"/>
            <a:t>• Average Years Worked: 7 years</a:t>
          </a:r>
        </a:p>
      </dgm:t>
    </dgm:pt>
    <dgm:pt modelId="{C66D51B6-F90E-4266-8709-C4B504F9032C}" type="parTrans" cxnId="{8F2B3DD8-AB4F-42B1-9645-B35184702F6A}">
      <dgm:prSet/>
      <dgm:spPr/>
      <dgm:t>
        <a:bodyPr/>
        <a:lstStyle/>
        <a:p>
          <a:endParaRPr lang="en-US"/>
        </a:p>
      </dgm:t>
    </dgm:pt>
    <dgm:pt modelId="{3C5BE78D-375E-4B26-9EBC-C9595A5E56B3}" type="sibTrans" cxnId="{8F2B3DD8-AB4F-42B1-9645-B35184702F6A}">
      <dgm:prSet/>
      <dgm:spPr/>
      <dgm:t>
        <a:bodyPr/>
        <a:lstStyle/>
        <a:p>
          <a:endParaRPr lang="en-US"/>
        </a:p>
      </dgm:t>
    </dgm:pt>
    <dgm:pt modelId="{41779A1B-020D-4102-9D60-55ABD7FF06C7}" type="pres">
      <dgm:prSet presAssocID="{09805B97-C221-48B8-96FB-3B9891041294}" presName="linear" presStyleCnt="0">
        <dgm:presLayoutVars>
          <dgm:animLvl val="lvl"/>
          <dgm:resizeHandles val="exact"/>
        </dgm:presLayoutVars>
      </dgm:prSet>
      <dgm:spPr/>
    </dgm:pt>
    <dgm:pt modelId="{5EA1B670-11CB-4A88-97CE-8F954DB76189}" type="pres">
      <dgm:prSet presAssocID="{DD718DBC-B036-404E-A3E3-9D86873BE6D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FA4B29D-9748-4650-BFD9-56EC30227501}" type="pres">
      <dgm:prSet presAssocID="{C7CE3D46-2C38-4079-ACC9-1C405F69EF23}" presName="spacer" presStyleCnt="0"/>
      <dgm:spPr/>
    </dgm:pt>
    <dgm:pt modelId="{7F009504-9AF8-448B-B1E2-4192B16A6CD2}" type="pres">
      <dgm:prSet presAssocID="{C8EC744B-DA01-4C86-9AD1-A3817B165CF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CD7CC5A-4248-42B2-8DCB-A7FB04AC213D}" type="pres">
      <dgm:prSet presAssocID="{0B0251BC-C65B-4116-9AA3-4BD0FD3DF31B}" presName="spacer" presStyleCnt="0"/>
      <dgm:spPr/>
    </dgm:pt>
    <dgm:pt modelId="{2167FFEF-F9D9-4D73-B13C-8C886D7E062E}" type="pres">
      <dgm:prSet presAssocID="{4A74C878-A3A4-4980-A9D7-7CCF8DDEAED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E294853-8E1F-4C8F-8F0B-235DB55D16F9}" type="pres">
      <dgm:prSet presAssocID="{7CECD6F5-D8D7-4245-9779-9B0F8A120FA2}" presName="spacer" presStyleCnt="0"/>
      <dgm:spPr/>
    </dgm:pt>
    <dgm:pt modelId="{64E53C57-460D-48C8-883C-500E25322F35}" type="pres">
      <dgm:prSet presAssocID="{98C318B1-B481-47C0-8143-57145991ACE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E3C3880-C4D5-40E7-BED9-FBB4F68FED05}" type="pres">
      <dgm:prSet presAssocID="{2D1320B7-3876-4770-AD83-2402AA67BAB7}" presName="spacer" presStyleCnt="0"/>
      <dgm:spPr/>
    </dgm:pt>
    <dgm:pt modelId="{1B34A4C8-912B-46AB-A3B3-AC369525D883}" type="pres">
      <dgm:prSet presAssocID="{0F736EA0-4BF9-48DA-A795-F122AA3555F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9A7CCF9-F0DE-44A4-ADDA-A38EC4D1C4DA}" type="pres">
      <dgm:prSet presAssocID="{AEA7CEC9-1014-4449-88ED-15B012F78FC4}" presName="spacer" presStyleCnt="0"/>
      <dgm:spPr/>
    </dgm:pt>
    <dgm:pt modelId="{92D041F2-2F66-465A-923C-FE68C62C172D}" type="pres">
      <dgm:prSet presAssocID="{78E060D5-FB3C-4839-8D91-776068AADEE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827982B-B56D-442F-8FA3-35460EAA62D8}" srcId="{09805B97-C221-48B8-96FB-3B9891041294}" destId="{4A74C878-A3A4-4980-A9D7-7CCF8DDEAEDB}" srcOrd="2" destOrd="0" parTransId="{B189C2A2-C3FC-40A6-A7D4-E41BEB7CACEE}" sibTransId="{7CECD6F5-D8D7-4245-9779-9B0F8A120FA2}"/>
    <dgm:cxn modelId="{13471B37-A439-4C0E-ACB0-3788BF98B97C}" srcId="{09805B97-C221-48B8-96FB-3B9891041294}" destId="{98C318B1-B481-47C0-8143-57145991ACE4}" srcOrd="3" destOrd="0" parTransId="{8631AF21-CE0B-4068-BC1C-149DC8E24CCD}" sibTransId="{2D1320B7-3876-4770-AD83-2402AA67BAB7}"/>
    <dgm:cxn modelId="{E8CE393A-7037-4FE1-99C6-30E006D0B670}" type="presOf" srcId="{DD718DBC-B036-404E-A3E3-9D86873BE6DE}" destId="{5EA1B670-11CB-4A88-97CE-8F954DB76189}" srcOrd="0" destOrd="0" presId="urn:microsoft.com/office/officeart/2005/8/layout/vList2"/>
    <dgm:cxn modelId="{F3CEE967-BB9D-438B-864D-70C24091294B}" type="presOf" srcId="{09805B97-C221-48B8-96FB-3B9891041294}" destId="{41779A1B-020D-4102-9D60-55ABD7FF06C7}" srcOrd="0" destOrd="0" presId="urn:microsoft.com/office/officeart/2005/8/layout/vList2"/>
    <dgm:cxn modelId="{B0B53B49-4ED1-4B1A-8EE2-3AF46469E832}" type="presOf" srcId="{98C318B1-B481-47C0-8143-57145991ACE4}" destId="{64E53C57-460D-48C8-883C-500E25322F35}" srcOrd="0" destOrd="0" presId="urn:microsoft.com/office/officeart/2005/8/layout/vList2"/>
    <dgm:cxn modelId="{8E369949-7FBE-4E85-B4B5-67B11D927A15}" type="presOf" srcId="{C8EC744B-DA01-4C86-9AD1-A3817B165CF1}" destId="{7F009504-9AF8-448B-B1E2-4192B16A6CD2}" srcOrd="0" destOrd="0" presId="urn:microsoft.com/office/officeart/2005/8/layout/vList2"/>
    <dgm:cxn modelId="{3CE9324C-18F9-4837-B294-7EF7C6A8D14F}" srcId="{09805B97-C221-48B8-96FB-3B9891041294}" destId="{C8EC744B-DA01-4C86-9AD1-A3817B165CF1}" srcOrd="1" destOrd="0" parTransId="{21D9A507-20BF-4598-A8B6-C20E2CC6949C}" sibTransId="{0B0251BC-C65B-4116-9AA3-4BD0FD3DF31B}"/>
    <dgm:cxn modelId="{44FA116F-D042-4820-A5FC-DD4F47FCD969}" type="presOf" srcId="{0F736EA0-4BF9-48DA-A795-F122AA3555FE}" destId="{1B34A4C8-912B-46AB-A3B3-AC369525D883}" srcOrd="0" destOrd="0" presId="urn:microsoft.com/office/officeart/2005/8/layout/vList2"/>
    <dgm:cxn modelId="{92DC3A73-E1EC-49DD-A1FD-9740B840A937}" srcId="{09805B97-C221-48B8-96FB-3B9891041294}" destId="{0F736EA0-4BF9-48DA-A795-F122AA3555FE}" srcOrd="4" destOrd="0" parTransId="{129C2EDD-CA9F-4850-8410-75DC8616467F}" sibTransId="{AEA7CEC9-1014-4449-88ED-15B012F78FC4}"/>
    <dgm:cxn modelId="{B26341AD-1B47-4AEF-BBBB-8CBDF4CB371D}" type="presOf" srcId="{78E060D5-FB3C-4839-8D91-776068AADEEF}" destId="{92D041F2-2F66-465A-923C-FE68C62C172D}" srcOrd="0" destOrd="0" presId="urn:microsoft.com/office/officeart/2005/8/layout/vList2"/>
    <dgm:cxn modelId="{47913AC2-7E1B-49C9-9CE2-C20A0909E464}" srcId="{09805B97-C221-48B8-96FB-3B9891041294}" destId="{DD718DBC-B036-404E-A3E3-9D86873BE6DE}" srcOrd="0" destOrd="0" parTransId="{1A92DEB4-97C9-4D1D-B8B3-04BD28E87925}" sibTransId="{C7CE3D46-2C38-4079-ACC9-1C405F69EF23}"/>
    <dgm:cxn modelId="{8F2B3DD8-AB4F-42B1-9645-B35184702F6A}" srcId="{09805B97-C221-48B8-96FB-3B9891041294}" destId="{78E060D5-FB3C-4839-8D91-776068AADEEF}" srcOrd="5" destOrd="0" parTransId="{C66D51B6-F90E-4266-8709-C4B504F9032C}" sibTransId="{3C5BE78D-375E-4B26-9EBC-C9595A5E56B3}"/>
    <dgm:cxn modelId="{7F141EEF-5930-40FE-A0EF-C85946187767}" type="presOf" srcId="{4A74C878-A3A4-4980-A9D7-7CCF8DDEAEDB}" destId="{2167FFEF-F9D9-4D73-B13C-8C886D7E062E}" srcOrd="0" destOrd="0" presId="urn:microsoft.com/office/officeart/2005/8/layout/vList2"/>
    <dgm:cxn modelId="{82B24697-1EAB-4677-AD55-21248A2F12DA}" type="presParOf" srcId="{41779A1B-020D-4102-9D60-55ABD7FF06C7}" destId="{5EA1B670-11CB-4A88-97CE-8F954DB76189}" srcOrd="0" destOrd="0" presId="urn:microsoft.com/office/officeart/2005/8/layout/vList2"/>
    <dgm:cxn modelId="{0C8CB7B1-C0C7-4823-B2D5-63BAB444135D}" type="presParOf" srcId="{41779A1B-020D-4102-9D60-55ABD7FF06C7}" destId="{3FA4B29D-9748-4650-BFD9-56EC30227501}" srcOrd="1" destOrd="0" presId="urn:microsoft.com/office/officeart/2005/8/layout/vList2"/>
    <dgm:cxn modelId="{0E2E92E0-C190-4386-B36F-CF1F584D3AB9}" type="presParOf" srcId="{41779A1B-020D-4102-9D60-55ABD7FF06C7}" destId="{7F009504-9AF8-448B-B1E2-4192B16A6CD2}" srcOrd="2" destOrd="0" presId="urn:microsoft.com/office/officeart/2005/8/layout/vList2"/>
    <dgm:cxn modelId="{BEF7F27F-F3A0-4E52-8F79-4D5279034D65}" type="presParOf" srcId="{41779A1B-020D-4102-9D60-55ABD7FF06C7}" destId="{6CD7CC5A-4248-42B2-8DCB-A7FB04AC213D}" srcOrd="3" destOrd="0" presId="urn:microsoft.com/office/officeart/2005/8/layout/vList2"/>
    <dgm:cxn modelId="{04BC4563-4029-410C-8030-096FB5145BDB}" type="presParOf" srcId="{41779A1B-020D-4102-9D60-55ABD7FF06C7}" destId="{2167FFEF-F9D9-4D73-B13C-8C886D7E062E}" srcOrd="4" destOrd="0" presId="urn:microsoft.com/office/officeart/2005/8/layout/vList2"/>
    <dgm:cxn modelId="{D2D08D99-F879-463C-854A-747CA5FAC44A}" type="presParOf" srcId="{41779A1B-020D-4102-9D60-55ABD7FF06C7}" destId="{3E294853-8E1F-4C8F-8F0B-235DB55D16F9}" srcOrd="5" destOrd="0" presId="urn:microsoft.com/office/officeart/2005/8/layout/vList2"/>
    <dgm:cxn modelId="{2406B96B-3BC6-4587-813E-468F82537F00}" type="presParOf" srcId="{41779A1B-020D-4102-9D60-55ABD7FF06C7}" destId="{64E53C57-460D-48C8-883C-500E25322F35}" srcOrd="6" destOrd="0" presId="urn:microsoft.com/office/officeart/2005/8/layout/vList2"/>
    <dgm:cxn modelId="{B9A55805-754D-4E2F-A5FA-0EA859DEBDF3}" type="presParOf" srcId="{41779A1B-020D-4102-9D60-55ABD7FF06C7}" destId="{4E3C3880-C4D5-40E7-BED9-FBB4F68FED05}" srcOrd="7" destOrd="0" presId="urn:microsoft.com/office/officeart/2005/8/layout/vList2"/>
    <dgm:cxn modelId="{DEB0E3F4-C4FB-4ED1-A121-58FB0C3EFC7B}" type="presParOf" srcId="{41779A1B-020D-4102-9D60-55ABD7FF06C7}" destId="{1B34A4C8-912B-46AB-A3B3-AC369525D883}" srcOrd="8" destOrd="0" presId="urn:microsoft.com/office/officeart/2005/8/layout/vList2"/>
    <dgm:cxn modelId="{D0040351-CF3C-4E1B-8121-70E5525E6C4A}" type="presParOf" srcId="{41779A1B-020D-4102-9D60-55ABD7FF06C7}" destId="{D9A7CCF9-F0DE-44A4-ADDA-A38EC4D1C4DA}" srcOrd="9" destOrd="0" presId="urn:microsoft.com/office/officeart/2005/8/layout/vList2"/>
    <dgm:cxn modelId="{1FA6A34C-ABAD-44C5-A226-E85B2AFCADF6}" type="presParOf" srcId="{41779A1B-020D-4102-9D60-55ABD7FF06C7}" destId="{92D041F2-2F66-465A-923C-FE68C62C17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0F2AE0-BD3D-4AB6-9616-7A425E51B3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F625DD-E99A-44B3-9A1A-C682FB8F7280}">
      <dgm:prSet/>
      <dgm:spPr/>
      <dgm:t>
        <a:bodyPr/>
        <a:lstStyle/>
        <a:p>
          <a:r>
            <a:rPr lang="en-US"/>
            <a:t>Majority attrition from 26–35 age group.</a:t>
          </a:r>
        </a:p>
      </dgm:t>
    </dgm:pt>
    <dgm:pt modelId="{4DC99AD3-7E3C-4C1B-A89F-BF162141EB43}" type="parTrans" cxnId="{0E4E2C8A-4D0A-4CCF-AC4C-CDA2CB948BF3}">
      <dgm:prSet/>
      <dgm:spPr/>
      <dgm:t>
        <a:bodyPr/>
        <a:lstStyle/>
        <a:p>
          <a:endParaRPr lang="en-US"/>
        </a:p>
      </dgm:t>
    </dgm:pt>
    <dgm:pt modelId="{50C902F6-CE01-4DB9-BF80-F8B641F3D213}" type="sibTrans" cxnId="{0E4E2C8A-4D0A-4CCF-AC4C-CDA2CB948BF3}">
      <dgm:prSet/>
      <dgm:spPr/>
      <dgm:t>
        <a:bodyPr/>
        <a:lstStyle/>
        <a:p>
          <a:endParaRPr lang="en-US"/>
        </a:p>
      </dgm:t>
    </dgm:pt>
    <dgm:pt modelId="{9AE76ACA-E3EB-49D7-9FC4-05EA721495F9}">
      <dgm:prSet/>
      <dgm:spPr/>
      <dgm:t>
        <a:bodyPr/>
        <a:lstStyle/>
        <a:p>
          <a:r>
            <a:rPr lang="en-US"/>
            <a:t>Employees in Life Sciences and Medical education categories show high turnover.</a:t>
          </a:r>
        </a:p>
      </dgm:t>
    </dgm:pt>
    <dgm:pt modelId="{A6B052D9-0F21-4D01-8BC7-E0D5A034B8FA}" type="parTrans" cxnId="{8B64F1CC-BD66-4D8E-980F-32A282A8BD38}">
      <dgm:prSet/>
      <dgm:spPr/>
      <dgm:t>
        <a:bodyPr/>
        <a:lstStyle/>
        <a:p>
          <a:endParaRPr lang="en-US"/>
        </a:p>
      </dgm:t>
    </dgm:pt>
    <dgm:pt modelId="{67EB4E74-90D1-4379-92A3-27632764CF10}" type="sibTrans" cxnId="{8B64F1CC-BD66-4D8E-980F-32A282A8BD38}">
      <dgm:prSet/>
      <dgm:spPr/>
      <dgm:t>
        <a:bodyPr/>
        <a:lstStyle/>
        <a:p>
          <a:endParaRPr lang="en-US"/>
        </a:p>
      </dgm:t>
    </dgm:pt>
    <dgm:pt modelId="{7C011382-B9C4-47E9-B6C4-CC71EEBE206B}">
      <dgm:prSet/>
      <dgm:spPr/>
      <dgm:t>
        <a:bodyPr/>
        <a:lstStyle/>
        <a:p>
          <a:r>
            <a:rPr lang="en-US"/>
            <a:t>Lower salary range employees leave most frequently.</a:t>
          </a:r>
        </a:p>
      </dgm:t>
    </dgm:pt>
    <dgm:pt modelId="{4E0CC5E4-4283-46D0-AA67-7A98E5029595}" type="parTrans" cxnId="{E337BE21-A053-420E-AA38-AABAB5A1BBD3}">
      <dgm:prSet/>
      <dgm:spPr/>
      <dgm:t>
        <a:bodyPr/>
        <a:lstStyle/>
        <a:p>
          <a:endParaRPr lang="en-US"/>
        </a:p>
      </dgm:t>
    </dgm:pt>
    <dgm:pt modelId="{9F05F849-4307-47D3-BC8D-1E487EA88627}" type="sibTrans" cxnId="{E337BE21-A053-420E-AA38-AABAB5A1BBD3}">
      <dgm:prSet/>
      <dgm:spPr/>
      <dgm:t>
        <a:bodyPr/>
        <a:lstStyle/>
        <a:p>
          <a:endParaRPr lang="en-US"/>
        </a:p>
      </dgm:t>
    </dgm:pt>
    <dgm:pt modelId="{835AEEDF-AE30-4488-95BF-B499F3D440BE}">
      <dgm:prSet/>
      <dgm:spPr/>
      <dgm:t>
        <a:bodyPr/>
        <a:lstStyle/>
        <a:p>
          <a:r>
            <a:rPr lang="en-US" dirty="0"/>
            <a:t>Sales and Lab Technician roles require focused retention strategies.</a:t>
          </a:r>
        </a:p>
      </dgm:t>
    </dgm:pt>
    <dgm:pt modelId="{4526FA5B-C953-4BDE-8F4A-E9E5F0509DC5}" type="parTrans" cxnId="{2174EA1E-3EFC-430B-871E-5541C405BA6B}">
      <dgm:prSet/>
      <dgm:spPr/>
      <dgm:t>
        <a:bodyPr/>
        <a:lstStyle/>
        <a:p>
          <a:endParaRPr lang="en-US"/>
        </a:p>
      </dgm:t>
    </dgm:pt>
    <dgm:pt modelId="{C9713CBB-AD1A-4A80-8C32-42E7B57B9F48}" type="sibTrans" cxnId="{2174EA1E-3EFC-430B-871E-5541C405BA6B}">
      <dgm:prSet/>
      <dgm:spPr/>
      <dgm:t>
        <a:bodyPr/>
        <a:lstStyle/>
        <a:p>
          <a:endParaRPr lang="en-US"/>
        </a:p>
      </dgm:t>
    </dgm:pt>
    <dgm:pt modelId="{B207BF63-EC18-485B-9679-C467AECDF705}" type="pres">
      <dgm:prSet presAssocID="{A60F2AE0-BD3D-4AB6-9616-7A425E51B326}" presName="linear" presStyleCnt="0">
        <dgm:presLayoutVars>
          <dgm:animLvl val="lvl"/>
          <dgm:resizeHandles val="exact"/>
        </dgm:presLayoutVars>
      </dgm:prSet>
      <dgm:spPr/>
    </dgm:pt>
    <dgm:pt modelId="{888A1862-D011-4503-8CA4-D07F52DC677C}" type="pres">
      <dgm:prSet presAssocID="{68F625DD-E99A-44B3-9A1A-C682FB8F72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00E35ED-6F3E-4BF6-9543-2C3A55723940}" type="pres">
      <dgm:prSet presAssocID="{50C902F6-CE01-4DB9-BF80-F8B641F3D213}" presName="spacer" presStyleCnt="0"/>
      <dgm:spPr/>
    </dgm:pt>
    <dgm:pt modelId="{1350321B-0344-4887-86A6-76392550A49C}" type="pres">
      <dgm:prSet presAssocID="{9AE76ACA-E3EB-49D7-9FC4-05EA721495F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86D2356-AB74-4EDB-8922-544FA3654B85}" type="pres">
      <dgm:prSet presAssocID="{67EB4E74-90D1-4379-92A3-27632764CF10}" presName="spacer" presStyleCnt="0"/>
      <dgm:spPr/>
    </dgm:pt>
    <dgm:pt modelId="{23B85A57-3843-4449-8808-B39D0D96434C}" type="pres">
      <dgm:prSet presAssocID="{7C011382-B9C4-47E9-B6C4-CC71EEBE20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3349CE-3E0E-4A50-B802-6A09B9B850C3}" type="pres">
      <dgm:prSet presAssocID="{9F05F849-4307-47D3-BC8D-1E487EA88627}" presName="spacer" presStyleCnt="0"/>
      <dgm:spPr/>
    </dgm:pt>
    <dgm:pt modelId="{B3916C86-AAE2-4770-B933-2B734110841B}" type="pres">
      <dgm:prSet presAssocID="{835AEEDF-AE30-4488-95BF-B499F3D440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4EA1E-3EFC-430B-871E-5541C405BA6B}" srcId="{A60F2AE0-BD3D-4AB6-9616-7A425E51B326}" destId="{835AEEDF-AE30-4488-95BF-B499F3D440BE}" srcOrd="3" destOrd="0" parTransId="{4526FA5B-C953-4BDE-8F4A-E9E5F0509DC5}" sibTransId="{C9713CBB-AD1A-4A80-8C32-42E7B57B9F48}"/>
    <dgm:cxn modelId="{E337BE21-A053-420E-AA38-AABAB5A1BBD3}" srcId="{A60F2AE0-BD3D-4AB6-9616-7A425E51B326}" destId="{7C011382-B9C4-47E9-B6C4-CC71EEBE206B}" srcOrd="2" destOrd="0" parTransId="{4E0CC5E4-4283-46D0-AA67-7A98E5029595}" sibTransId="{9F05F849-4307-47D3-BC8D-1E487EA88627}"/>
    <dgm:cxn modelId="{80AB9081-213A-48FE-B439-19D6ECB5BD74}" type="presOf" srcId="{A60F2AE0-BD3D-4AB6-9616-7A425E51B326}" destId="{B207BF63-EC18-485B-9679-C467AECDF705}" srcOrd="0" destOrd="0" presId="urn:microsoft.com/office/officeart/2005/8/layout/vList2"/>
    <dgm:cxn modelId="{4EE51787-6DA7-42B8-B810-793C2F66FF0F}" type="presOf" srcId="{835AEEDF-AE30-4488-95BF-B499F3D440BE}" destId="{B3916C86-AAE2-4770-B933-2B734110841B}" srcOrd="0" destOrd="0" presId="urn:microsoft.com/office/officeart/2005/8/layout/vList2"/>
    <dgm:cxn modelId="{0E4E2C8A-4D0A-4CCF-AC4C-CDA2CB948BF3}" srcId="{A60F2AE0-BD3D-4AB6-9616-7A425E51B326}" destId="{68F625DD-E99A-44B3-9A1A-C682FB8F7280}" srcOrd="0" destOrd="0" parTransId="{4DC99AD3-7E3C-4C1B-A89F-BF162141EB43}" sibTransId="{50C902F6-CE01-4DB9-BF80-F8B641F3D213}"/>
    <dgm:cxn modelId="{578CBD9B-46D9-4554-B8DD-5CA67537EE99}" type="presOf" srcId="{7C011382-B9C4-47E9-B6C4-CC71EEBE206B}" destId="{23B85A57-3843-4449-8808-B39D0D96434C}" srcOrd="0" destOrd="0" presId="urn:microsoft.com/office/officeart/2005/8/layout/vList2"/>
    <dgm:cxn modelId="{4B23919E-5B50-4454-976B-8A72EE453C9C}" type="presOf" srcId="{68F625DD-E99A-44B3-9A1A-C682FB8F7280}" destId="{888A1862-D011-4503-8CA4-D07F52DC677C}" srcOrd="0" destOrd="0" presId="urn:microsoft.com/office/officeart/2005/8/layout/vList2"/>
    <dgm:cxn modelId="{B859BFAC-2CF2-479C-90FA-6618CAE4D3ED}" type="presOf" srcId="{9AE76ACA-E3EB-49D7-9FC4-05EA721495F9}" destId="{1350321B-0344-4887-86A6-76392550A49C}" srcOrd="0" destOrd="0" presId="urn:microsoft.com/office/officeart/2005/8/layout/vList2"/>
    <dgm:cxn modelId="{8B64F1CC-BD66-4D8E-980F-32A282A8BD38}" srcId="{A60F2AE0-BD3D-4AB6-9616-7A425E51B326}" destId="{9AE76ACA-E3EB-49D7-9FC4-05EA721495F9}" srcOrd="1" destOrd="0" parTransId="{A6B052D9-0F21-4D01-8BC7-E0D5A034B8FA}" sibTransId="{67EB4E74-90D1-4379-92A3-27632764CF10}"/>
    <dgm:cxn modelId="{9A27497F-2DF5-424F-A832-C88F029B09EC}" type="presParOf" srcId="{B207BF63-EC18-485B-9679-C467AECDF705}" destId="{888A1862-D011-4503-8CA4-D07F52DC677C}" srcOrd="0" destOrd="0" presId="urn:microsoft.com/office/officeart/2005/8/layout/vList2"/>
    <dgm:cxn modelId="{9FF4A219-9E14-4A71-AB60-4614A71BD245}" type="presParOf" srcId="{B207BF63-EC18-485B-9679-C467AECDF705}" destId="{B00E35ED-6F3E-4BF6-9543-2C3A55723940}" srcOrd="1" destOrd="0" presId="urn:microsoft.com/office/officeart/2005/8/layout/vList2"/>
    <dgm:cxn modelId="{16530143-E8CD-4519-9BF0-15B182EEBA82}" type="presParOf" srcId="{B207BF63-EC18-485B-9679-C467AECDF705}" destId="{1350321B-0344-4887-86A6-76392550A49C}" srcOrd="2" destOrd="0" presId="urn:microsoft.com/office/officeart/2005/8/layout/vList2"/>
    <dgm:cxn modelId="{D9EBE3E9-3BF5-4499-83E4-1C19E1CE5DD6}" type="presParOf" srcId="{B207BF63-EC18-485B-9679-C467AECDF705}" destId="{686D2356-AB74-4EDB-8922-544FA3654B85}" srcOrd="3" destOrd="0" presId="urn:microsoft.com/office/officeart/2005/8/layout/vList2"/>
    <dgm:cxn modelId="{32CF56E1-BED2-4D6C-8E34-B1445443775C}" type="presParOf" srcId="{B207BF63-EC18-485B-9679-C467AECDF705}" destId="{23B85A57-3843-4449-8808-B39D0D96434C}" srcOrd="4" destOrd="0" presId="urn:microsoft.com/office/officeart/2005/8/layout/vList2"/>
    <dgm:cxn modelId="{8BD6C472-1F06-4093-AB6C-0FF4D26A25FB}" type="presParOf" srcId="{B207BF63-EC18-485B-9679-C467AECDF705}" destId="{583349CE-3E0E-4A50-B802-6A09B9B850C3}" srcOrd="5" destOrd="0" presId="urn:microsoft.com/office/officeart/2005/8/layout/vList2"/>
    <dgm:cxn modelId="{0A418CF6-5A58-4C35-8F6F-2109FA7B752B}" type="presParOf" srcId="{B207BF63-EC18-485B-9679-C467AECDF705}" destId="{B3916C86-AAE2-4770-B933-2B73411084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A1B670-11CB-4A88-97CE-8F954DB76189}">
      <dsp:nvSpPr>
        <dsp:cNvPr id="0" name=""/>
        <dsp:cNvSpPr/>
      </dsp:nvSpPr>
      <dsp:spPr>
        <a:xfrm>
          <a:off x="0" y="6405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Total Employees: 1473</a:t>
          </a:r>
        </a:p>
      </dsp:txBody>
      <dsp:txXfrm>
        <a:off x="23988" y="30393"/>
        <a:ext cx="7152921" cy="443423"/>
      </dsp:txXfrm>
    </dsp:sp>
    <dsp:sp modelId="{7F009504-9AF8-448B-B1E2-4192B16A6CD2}">
      <dsp:nvSpPr>
        <dsp:cNvPr id="0" name=""/>
        <dsp:cNvSpPr/>
      </dsp:nvSpPr>
      <dsp:spPr>
        <a:xfrm>
          <a:off x="0" y="558285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Total Attrition: 237</a:t>
          </a:r>
        </a:p>
      </dsp:txBody>
      <dsp:txXfrm>
        <a:off x="23988" y="582273"/>
        <a:ext cx="7152921" cy="443423"/>
      </dsp:txXfrm>
    </dsp:sp>
    <dsp:sp modelId="{2167FFEF-F9D9-4D73-B13C-8C886D7E062E}">
      <dsp:nvSpPr>
        <dsp:cNvPr id="0" name=""/>
        <dsp:cNvSpPr/>
      </dsp:nvSpPr>
      <dsp:spPr>
        <a:xfrm>
          <a:off x="0" y="1110165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Attrition Rate: 16.1%</a:t>
          </a:r>
        </a:p>
      </dsp:txBody>
      <dsp:txXfrm>
        <a:off x="23988" y="1134153"/>
        <a:ext cx="7152921" cy="443423"/>
      </dsp:txXfrm>
    </dsp:sp>
    <dsp:sp modelId="{64E53C57-460D-48C8-883C-500E25322F35}">
      <dsp:nvSpPr>
        <dsp:cNvPr id="0" name=""/>
        <dsp:cNvSpPr/>
      </dsp:nvSpPr>
      <dsp:spPr>
        <a:xfrm>
          <a:off x="0" y="1662045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Average Age: 37 years</a:t>
          </a:r>
        </a:p>
      </dsp:txBody>
      <dsp:txXfrm>
        <a:off x="23988" y="1686033"/>
        <a:ext cx="7152921" cy="443423"/>
      </dsp:txXfrm>
    </dsp:sp>
    <dsp:sp modelId="{1B34A4C8-912B-46AB-A3B3-AC369525D883}">
      <dsp:nvSpPr>
        <dsp:cNvPr id="0" name=""/>
        <dsp:cNvSpPr/>
      </dsp:nvSpPr>
      <dsp:spPr>
        <a:xfrm>
          <a:off x="0" y="2213925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Average Salary: $6.5K</a:t>
          </a:r>
        </a:p>
      </dsp:txBody>
      <dsp:txXfrm>
        <a:off x="23988" y="2237913"/>
        <a:ext cx="7152921" cy="443423"/>
      </dsp:txXfrm>
    </dsp:sp>
    <dsp:sp modelId="{92D041F2-2F66-465A-923C-FE68C62C172D}">
      <dsp:nvSpPr>
        <dsp:cNvPr id="0" name=""/>
        <dsp:cNvSpPr/>
      </dsp:nvSpPr>
      <dsp:spPr>
        <a:xfrm>
          <a:off x="0" y="2765806"/>
          <a:ext cx="7200897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Average Years Worked: 7 years</a:t>
          </a:r>
        </a:p>
      </dsp:txBody>
      <dsp:txXfrm>
        <a:off x="23988" y="2789794"/>
        <a:ext cx="7152921" cy="443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A1862-D011-4503-8CA4-D07F52DC677C}">
      <dsp:nvSpPr>
        <dsp:cNvPr id="0" name=""/>
        <dsp:cNvSpPr/>
      </dsp:nvSpPr>
      <dsp:spPr>
        <a:xfrm>
          <a:off x="0" y="20983"/>
          <a:ext cx="4465222" cy="128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Majority attrition from 26–35 age group.</a:t>
          </a:r>
        </a:p>
      </dsp:txBody>
      <dsp:txXfrm>
        <a:off x="62826" y="83809"/>
        <a:ext cx="4339570" cy="1161348"/>
      </dsp:txXfrm>
    </dsp:sp>
    <dsp:sp modelId="{1350321B-0344-4887-86A6-76392550A49C}">
      <dsp:nvSpPr>
        <dsp:cNvPr id="0" name=""/>
        <dsp:cNvSpPr/>
      </dsp:nvSpPr>
      <dsp:spPr>
        <a:xfrm>
          <a:off x="0" y="1379984"/>
          <a:ext cx="4465222" cy="128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Employees in Life Sciences and Medical education categories show high turnover.</a:t>
          </a:r>
        </a:p>
      </dsp:txBody>
      <dsp:txXfrm>
        <a:off x="62826" y="1442810"/>
        <a:ext cx="4339570" cy="1161348"/>
      </dsp:txXfrm>
    </dsp:sp>
    <dsp:sp modelId="{23B85A57-3843-4449-8808-B39D0D96434C}">
      <dsp:nvSpPr>
        <dsp:cNvPr id="0" name=""/>
        <dsp:cNvSpPr/>
      </dsp:nvSpPr>
      <dsp:spPr>
        <a:xfrm>
          <a:off x="0" y="2738984"/>
          <a:ext cx="4465222" cy="128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Lower salary range employees leave most frequently.</a:t>
          </a:r>
        </a:p>
      </dsp:txBody>
      <dsp:txXfrm>
        <a:off x="62826" y="2801810"/>
        <a:ext cx="4339570" cy="1161348"/>
      </dsp:txXfrm>
    </dsp:sp>
    <dsp:sp modelId="{B3916C86-AAE2-4770-B933-2B734110841B}">
      <dsp:nvSpPr>
        <dsp:cNvPr id="0" name=""/>
        <dsp:cNvSpPr/>
      </dsp:nvSpPr>
      <dsp:spPr>
        <a:xfrm>
          <a:off x="0" y="4097984"/>
          <a:ext cx="4465222" cy="128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Sales and Lab Technician roles require focused retention strategies.</a:t>
          </a:r>
        </a:p>
      </dsp:txBody>
      <dsp:txXfrm>
        <a:off x="62826" y="4160810"/>
        <a:ext cx="4339570" cy="116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98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6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40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9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35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67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7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42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2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24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3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4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320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39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952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49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4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6F87C5C-DF35-42D8-B5FF-555DE3593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2D2BF3-27D6-4D20-A622-9DDF2ACE6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1962" y="1411015"/>
            <a:ext cx="5856119" cy="410396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F3CC3B-9F6E-462F-947B-ABEDF0800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46249" y="1540931"/>
            <a:ext cx="5657851" cy="3835401"/>
          </a:xfrm>
          <a:prstGeom prst="rect">
            <a:avLst/>
          </a:prstGeom>
          <a:noFill/>
          <a:ln w="15875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871131"/>
            <a:ext cx="5111752" cy="1515533"/>
          </a:xfrm>
        </p:spPr>
        <p:txBody>
          <a:bodyPr>
            <a:normAutofit/>
          </a:bodyPr>
          <a:lstStyle/>
          <a:p>
            <a:pPr>
              <a:defRPr sz="3200" b="1">
                <a:latin typeface="Calibri"/>
              </a:defRPr>
            </a:pPr>
            <a:r>
              <a:rPr lang="en-IN" sz="3200"/>
              <a:t>HR Attrition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3657597"/>
            <a:ext cx="5111752" cy="1320802"/>
          </a:xfrm>
        </p:spPr>
        <p:txBody>
          <a:bodyPr>
            <a:normAutofit/>
          </a:bodyPr>
          <a:lstStyle/>
          <a:p>
            <a:pPr>
              <a:defRPr sz="1800" b="0">
                <a:latin typeface="Calibri"/>
              </a:defRPr>
            </a:pPr>
            <a:r>
              <a:rPr lang="en-US" sz="1800"/>
              <a:t>Prepared by Ashish Kumar</a:t>
            </a:r>
          </a:p>
          <a:p>
            <a:pPr>
              <a:defRPr sz="1800" b="0">
                <a:latin typeface="Calibri"/>
              </a:defRPr>
            </a:pPr>
            <a:r>
              <a:rPr lang="en-US" sz="1800"/>
              <a:t>October 2025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3B4346-E27D-4B30-9B39-4FD276734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019299" y="3522131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with his arms crossed&#10;&#10;AI-generated content may be incorrect.">
            <a:extLst>
              <a:ext uri="{FF2B5EF4-FFF2-40B4-BE49-F238E27FC236}">
                <a16:creationId xmlns:a16="http://schemas.microsoft.com/office/drawing/2014/main" id="{BBAC1158-F0B3-7035-2269-25321C1B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317" y="3177692"/>
            <a:ext cx="2890684" cy="3680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3" y="484632"/>
            <a:ext cx="8417053" cy="1479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15" y="796374"/>
            <a:ext cx="7937369" cy="880027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60" y="648377"/>
            <a:ext cx="8167878" cy="115214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9144000" cy="4572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2373840-2D12-EA46-63A1-28F523DCC0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1550" y="2612256"/>
          <a:ext cx="7200897" cy="3263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11FACCD-8B95-4879-B20F-26F41E8BC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2A7AA-2C45-40F0-B861-4EB9AA9F6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635508"/>
            <a:ext cx="2515852" cy="5586984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4200" dirty="0">
                <a:solidFill>
                  <a:srgbClr val="FFFFFF"/>
                </a:solidFill>
              </a:rPr>
              <a:t>Attrition Overview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3689C-E8F8-4542-8800-E68B764AF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59" y="0"/>
            <a:ext cx="5653278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196" y="793889"/>
            <a:ext cx="4451755" cy="5174774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900" dirty="0">
                <a:solidFill>
                  <a:schemeClr val="bg1"/>
                </a:solidFill>
              </a:rPr>
              <a:t>The overall attrition rate stands at 16.1%, which indicates moderate employee turnover. Retention strategies should focus on improving engagement and addressing the primary causes identified across job roles and salary bands.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467CA7-F767-4582-9BB7-0B1AF75D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232" y="320040"/>
            <a:ext cx="5170932" cy="6217920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7C4858-FAA3-4226-A856-193A0191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1B503-0291-4E82-A65E-72D604D9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7" y="469900"/>
            <a:ext cx="2771251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836C5-9601-4982-A121-CCA49BF7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51" y="635508"/>
            <a:ext cx="2523744" cy="5586984"/>
          </a:xfrm>
          <a:prstGeom prst="rect">
            <a:avLst/>
          </a:prstGeom>
          <a:noFill/>
          <a:ln w="15875" cap="flat">
            <a:solidFill>
              <a:schemeClr val="bg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>
                <a:solidFill>
                  <a:srgbClr val="FFFFFF"/>
                </a:solidFill>
              </a:rPr>
              <a:t>Attrition by Education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CD0D05-FF47-4ABB-841C-0600CAD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770" y="469900"/>
            <a:ext cx="4465222" cy="540596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Life Sciences: 38%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Medical: 27%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Marketing: 15%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Technical Degree: 14%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Others: 5%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Employees with Life Sciences and Medical backgrounds show higher attrition, possibly due to better opportunities elsewhere.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12B819D-CC31-407E-85A4-38D86944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33B347-AE1B-487E-9813-FC88C0DD7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6" y="469900"/>
            <a:ext cx="8429625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 contourW="12700">
            <a:bevelT w="6350" h="6350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E02B2F-D95A-47B1-8DA1-163D3426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>
                <a:solidFill>
                  <a:schemeClr val="bg1"/>
                </a:solidFill>
              </a:rPr>
              <a:t>Attrition by 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867580-55A6-4E67-A38E-4D1E3D4FB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2281" y="2400639"/>
            <a:ext cx="69553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• 26–35 years: 116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• 18–25 years: 44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• 36–45 years: 43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• 46–55 years: 26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• 55+ years: 8</a:t>
            </a:r>
          </a:p>
          <a:p>
            <a:pPr marL="0" indent="0">
              <a:buNone/>
              <a:defRPr sz="1800">
                <a:latin typeface="Calibri"/>
              </a:defRPr>
            </a:pPr>
            <a:endParaRPr lang="en-US" sz="1800">
              <a:solidFill>
                <a:schemeClr val="bg1"/>
              </a:solidFill>
            </a:endParaRP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>
                <a:solidFill>
                  <a:schemeClr val="bg1"/>
                </a:solidFill>
              </a:rPr>
              <a:t>Younger employees (26–35) contribute most to attrition, indicating the need for improved career growth programs.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2B819D-CC31-407E-85A4-38D86944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3B347-AE1B-487E-9813-FC88C0DD7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6" y="469900"/>
            <a:ext cx="8429625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 contourW="12700">
            <a:bevelT w="6350" h="6350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E02B2F-D95A-47B1-8DA1-163D3426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 dirty="0">
                <a:solidFill>
                  <a:schemeClr val="bg1"/>
                </a:solidFill>
              </a:rPr>
              <a:t>Attrition by Salary Slab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867580-55A6-4E67-A38E-4D1E3D4FB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2281" y="2400639"/>
            <a:ext cx="69553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Up to 5K: 163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5K–10K: 49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10K–15K: 20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15K+: 5</a:t>
            </a:r>
          </a:p>
          <a:p>
            <a:pPr>
              <a:defRPr sz="1800">
                <a:latin typeface="Calibri"/>
              </a:defRP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Attrition is highest among lower salary groups, suggesting a link between compensation and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2B819D-CC31-407E-85A4-38D86944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3B347-AE1B-487E-9813-FC88C0DD7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6" y="469900"/>
            <a:ext cx="8429625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 contourW="12700">
            <a:bevelT w="6350" h="6350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E02B2F-D95A-47B1-8DA1-163D3426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 dirty="0">
                <a:solidFill>
                  <a:schemeClr val="bg1"/>
                </a:solidFill>
              </a:rPr>
              <a:t>Attrition by Job Role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867580-55A6-4E67-A38E-4D1E3D4FB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2281" y="2400639"/>
            <a:ext cx="69553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Top roles with highest attrition: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Laboratory Technician – 62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Sales Executive – 57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Research Scientist – 47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Sales Representative – 33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Human Resources – 12</a:t>
            </a:r>
          </a:p>
          <a:p>
            <a:pPr>
              <a:defRPr sz="1800">
                <a:latin typeface="Calibri"/>
              </a:defRP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Sales and technical roles require attention due to higher turnover.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2B819D-CC31-407E-85A4-38D86944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3B347-AE1B-487E-9813-FC88C0DD7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6" y="469900"/>
            <a:ext cx="8429625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 contourW="12700">
            <a:bevelT w="6350" h="6350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E02B2F-D95A-47B1-8DA1-163D3426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 dirty="0">
                <a:solidFill>
                  <a:schemeClr val="bg1"/>
                </a:solidFill>
              </a:rPr>
              <a:t>Gender and Department Analysis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867580-55A6-4E67-A38E-4D1E3D4FB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2281" y="2400639"/>
            <a:ext cx="69553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Male Attrition: 150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Female Attrition: 87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• Departments: Human Resources, Research &amp; Development, Sales</a:t>
            </a:r>
          </a:p>
          <a:p>
            <a:pPr>
              <a:defRPr sz="1800">
                <a:latin typeface="Calibri"/>
              </a:defRPr>
            </a:pPr>
            <a:endParaRPr lang="en-US" sz="1800" dirty="0">
              <a:solidFill>
                <a:schemeClr val="bg1"/>
              </a:solidFill>
            </a:endParaRPr>
          </a:p>
          <a:p>
            <a:pPr>
              <a:defRPr sz="1800">
                <a:latin typeface="Calibri"/>
              </a:defRPr>
            </a:pPr>
            <a:r>
              <a:rPr lang="en-US" sz="1800" dirty="0">
                <a:solidFill>
                  <a:schemeClr val="bg1"/>
                </a:solidFill>
              </a:rPr>
              <a:t>The Sales and R&amp;D departments experience the most attrition, driven by job stress and external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B7C4858-FAA3-4226-A856-193A0191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C1B503-0291-4E82-A65E-72D604D9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7" y="469900"/>
            <a:ext cx="2771251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F836C5-9601-4982-A121-CCA49BF7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51" y="635508"/>
            <a:ext cx="2523744" cy="5586984"/>
          </a:xfrm>
          <a:prstGeom prst="rect">
            <a:avLst/>
          </a:prstGeom>
          <a:noFill/>
          <a:ln w="15875" cap="flat">
            <a:solidFill>
              <a:schemeClr val="bg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180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CD0D05-FF47-4ABB-841C-0600CAD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BF1FA33-288B-CD2A-A18E-F575D7B77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563569"/>
              </p:ext>
            </p:extLst>
          </p:nvPr>
        </p:nvGraphicFramePr>
        <p:xfrm>
          <a:off x="3862770" y="469900"/>
          <a:ext cx="4465222" cy="5405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11FACCD-8B95-4879-B20F-26F41E8BC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B2A7AA-2C45-40F0-B861-4EB9AA9F6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635508"/>
            <a:ext cx="2515852" cy="5586984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230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3689C-E8F8-4542-8800-E68B764AF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059" y="0"/>
            <a:ext cx="5653278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196" y="793889"/>
            <a:ext cx="4451755" cy="5174774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latin typeface="Calibri"/>
              </a:defRPr>
            </a:pPr>
            <a:r>
              <a:rPr lang="en-US" sz="1900">
                <a:solidFill>
                  <a:schemeClr val="bg1"/>
                </a:solidFill>
              </a:rPr>
              <a:t>1. Introduce structured career growth plans for younger employees.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900">
                <a:solidFill>
                  <a:schemeClr val="bg1"/>
                </a:solidFill>
              </a:rPr>
              <a:t>2. Revise compensation for lower salary bands.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900">
                <a:solidFill>
                  <a:schemeClr val="bg1"/>
                </a:solidFill>
              </a:rPr>
              <a:t>3. Conduct regular engagement and satisfaction surveys.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900">
                <a:solidFill>
                  <a:schemeClr val="bg1"/>
                </a:solidFill>
              </a:rPr>
              <a:t>4. Provide leadership training and mentorship for Sales &amp; Technical teams.</a:t>
            </a:r>
          </a:p>
          <a:p>
            <a:pPr marL="0" indent="0">
              <a:buNone/>
              <a:defRPr sz="1800">
                <a:latin typeface="Calibri"/>
              </a:defRPr>
            </a:pPr>
            <a:r>
              <a:rPr lang="en-US" sz="1900">
                <a:solidFill>
                  <a:schemeClr val="bg1"/>
                </a:solidFill>
              </a:rPr>
              <a:t>5. Improve work-life balance and reward recognition programs.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467CA7-F767-4582-9BB7-0B1AF75D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232" y="320040"/>
            <a:ext cx="5170932" cy="6217920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6E5E839-040E-4D3E-B50A-8D803DFE4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F3F4B4-A2E6-47B5-92FB-37BEEAFA4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635508"/>
            <a:ext cx="2515852" cy="5586984"/>
          </a:xfrm>
        </p:spPr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lang="en-IN" sz="3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IN" sz="39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124D17-3A82-47D5-80C1-F990ABB1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561" y="469900"/>
            <a:ext cx="4937237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3353" y="954756"/>
            <a:ext cx="4209962" cy="485388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600">
                <a:solidFill>
                  <a:schemeClr val="bg1"/>
                </a:solidFill>
              </a:rPr>
              <a:t>The HR Attrition Dashboard provides critical insights into workforce turnover trends. By addressing compensation, engagement, and career growth, the organization can significantly reduce attrition and improve employee satisfaction.</a:t>
            </a:r>
          </a:p>
          <a:p>
            <a:pPr>
              <a:lnSpc>
                <a:spcPct val="90000"/>
              </a:lnSpc>
              <a:defRPr sz="1800">
                <a:latin typeface="Calibri"/>
              </a:defRPr>
            </a:pPr>
            <a:r>
              <a:rPr lang="en-US" sz="1600">
                <a:solidFill>
                  <a:schemeClr val="bg1"/>
                </a:solidFill>
              </a:rPr>
              <a:t>The analysis reveals that </a:t>
            </a:r>
            <a:r>
              <a:rPr lang="en-US" sz="1600" b="1">
                <a:solidFill>
                  <a:schemeClr val="bg1"/>
                </a:solidFill>
              </a:rPr>
              <a:t>employee attrition is concentrated among younger staff (26–35 years)</a:t>
            </a:r>
            <a:r>
              <a:rPr lang="en-US" sz="1600">
                <a:solidFill>
                  <a:schemeClr val="bg1"/>
                </a:solidFill>
              </a:rPr>
              <a:t>, primarily in </a:t>
            </a:r>
            <a:r>
              <a:rPr lang="en-US" sz="1600" b="1">
                <a:solidFill>
                  <a:schemeClr val="bg1"/>
                </a:solidFill>
              </a:rPr>
              <a:t>Sales and Laboratory roles</a:t>
            </a:r>
            <a:r>
              <a:rPr lang="en-US" sz="1600">
                <a:solidFill>
                  <a:schemeClr val="bg1"/>
                </a:solidFill>
              </a:rPr>
              <a:t>, and among those earning </a:t>
            </a:r>
            <a:r>
              <a:rPr lang="en-US" sz="1600" b="1">
                <a:solidFill>
                  <a:schemeClr val="bg1"/>
                </a:solidFill>
              </a:rPr>
              <a:t>below $5K monthly</a:t>
            </a:r>
            <a:r>
              <a:rPr lang="en-US" sz="1600">
                <a:solidFill>
                  <a:schemeClr val="bg1"/>
                </a:solidFill>
              </a:rPr>
              <a:t>. These groups face higher external opportunities and limited internal growth, leading to disengagement.</a:t>
            </a:r>
            <a:br>
              <a:rPr lang="en-US" sz="1600">
                <a:solidFill>
                  <a:schemeClr val="bg1"/>
                </a:solidFill>
              </a:rPr>
            </a:br>
            <a:r>
              <a:rPr lang="en-US" sz="1600">
                <a:solidFill>
                  <a:schemeClr val="bg1"/>
                </a:solidFill>
              </a:rPr>
              <a:t>Employees with </a:t>
            </a:r>
            <a:r>
              <a:rPr lang="en-US" sz="1600" b="1">
                <a:solidFill>
                  <a:schemeClr val="bg1"/>
                </a:solidFill>
              </a:rPr>
              <a:t>Life Sciences and Medical backgrounds</a:t>
            </a:r>
            <a:r>
              <a:rPr lang="en-US" sz="1600">
                <a:solidFill>
                  <a:schemeClr val="bg1"/>
                </a:solidFill>
              </a:rPr>
              <a:t> also show higher turnover, indicating competitive demand in the market.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A78C8-C0E0-45DA-BC2C-2C8D4153B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743" y="635508"/>
            <a:ext cx="469087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31</TotalTime>
  <Words>504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HR Attrition Analysis Report</vt:lpstr>
      <vt:lpstr>Executive Summary</vt:lpstr>
      <vt:lpstr>Attrition Overview</vt:lpstr>
      <vt:lpstr>Attrition by Education</vt:lpstr>
      <vt:lpstr>Attrition by Age</vt:lpstr>
      <vt:lpstr>Attrition by Salary Slab</vt:lpstr>
      <vt:lpstr>Attrition by Job Role</vt:lpstr>
      <vt:lpstr>Gender and Department Analysis</vt:lpstr>
      <vt:lpstr>Key Findings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Kumar</cp:lastModifiedBy>
  <cp:revision>2</cp:revision>
  <dcterms:created xsi:type="dcterms:W3CDTF">2013-01-27T09:14:16Z</dcterms:created>
  <dcterms:modified xsi:type="dcterms:W3CDTF">2025-10-26T23:58:30Z</dcterms:modified>
  <cp:category/>
</cp:coreProperties>
</file>